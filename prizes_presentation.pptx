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685800" y="2011680"/>
            <a:ext cx="137160" cy="292608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920240"/>
            <a:ext cx="10058400" cy="3200400"/>
          </a:xfrm>
          <a:prstGeom prst="rect">
            <a:avLst/>
          </a:prstGeom>
          <a:noFill/>
        </p:spPr>
        <p:txBody>
          <a:bodyPr wrap="square">
            <a:spAutoFit/>
          </a:bodyPr>
          <a:lstStyle/>
          <a:p>
            <a:pPr>
              <a:spcAft>
                <a:spcPts val="1200"/>
              </a:spcAft>
              <a:defRPr sz="1600" b="1">
                <a:solidFill>
                  <a:srgbClr val="34D399"/>
                </a:solidFill>
                <a:latin typeface="Arial"/>
              </a:defRPr>
            </a:pPr>
            <a:r>
              <a:t>2025 MALAYSIA RUNNING EVENT</a:t>
            </a:r>
          </a:p>
          <a:p>
            <a:pPr>
              <a:spcAft>
                <a:spcPts val="1600"/>
              </a:spcAft>
              <a:defRPr sz="4400" b="1">
                <a:solidFill>
                  <a:srgbClr val="F5F7FA"/>
                </a:solidFill>
                <a:latin typeface="Georgia"/>
              </a:defRPr>
            </a:pPr>
            <a:r>
              <a:t>Official Cash Prize Structure</a:t>
            </a:r>
            <a:br/>
            <a:r>
              <a:t>Recommendation</a:t>
            </a:r>
          </a:p>
          <a:p>
            <a:pPr>
              <a:defRPr sz="1600">
                <a:solidFill>
                  <a:srgbClr val="A0AEC0"/>
                </a:solidFill>
                <a:latin typeface="Arial"/>
              </a:defRPr>
            </a:pPr>
            <a:r>
              <a:t>Comparative proposal for Option A (Premium 10 Ranks) and Option B (Budget 5 Ranks)</a:t>
            </a:r>
            <a:br/>
            <a:r>
              <a:t>Designed for 8,000 Participants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TextBox 1"/>
          <p:cNvSpPr txBox="1"/>
          <p:nvPr/>
        </p:nvSpPr>
        <p:spPr>
          <a:xfrm>
            <a:off x="685800" y="457200"/>
            <a:ext cx="10817352" cy="1097280"/>
          </a:xfrm>
          <a:prstGeom prst="rect">
            <a:avLst/>
          </a:prstGeom>
          <a:noFill/>
        </p:spPr>
        <p:txBody>
          <a:bodyPr wrap="square" lIns="0" tIns="0" bIns="0" rIns="0">
            <a:spAutoFit/>
          </a:bodyPr>
          <a:lstStyle/>
          <a:p>
            <a:pPr>
              <a:defRPr sz="2800" b="1">
                <a:solidFill>
                  <a:srgbClr val="F5F7FA"/>
                </a:solidFill>
                <a:latin typeface="Georgia"/>
              </a:defRPr>
            </a:pPr>
            <a:r>
              <a:t>Event Core Parameters</a:t>
            </a:r>
          </a:p>
          <a:p>
            <a:pPr>
              <a:spcBef>
                <a:spcPts val="600"/>
              </a:spcBef>
              <a:defRPr sz="1400">
                <a:solidFill>
                  <a:srgbClr val="A0AEC0"/>
                </a:solidFill>
                <a:latin typeface="Arial"/>
              </a:defRPr>
            </a:pPr>
            <a:r>
              <a:t>Rules and baseline benchmarks for the proposed models</a:t>
            </a:r>
          </a:p>
        </p:txBody>
      </p:sp>
      <p:sp>
        <p:nvSpPr>
          <p:cNvPr id="3" name="Rounded Rectangle 2"/>
          <p:cNvSpPr/>
          <p:nvPr/>
        </p:nvSpPr>
        <p:spPr>
          <a:xfrm>
            <a:off x="685800" y="1828800"/>
            <a:ext cx="3291840" cy="3840480"/>
          </a:xfrm>
          <a:prstGeom prst="roundRect">
            <a:avLst/>
          </a:prstGeom>
          <a:solidFill>
            <a:srgbClr val="1E2530"/>
          </a:solidFill>
          <a:ln>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011680"/>
            <a:ext cx="2926080" cy="3474720"/>
          </a:xfrm>
          <a:prstGeom prst="rect">
            <a:avLst/>
          </a:prstGeom>
          <a:noFill/>
        </p:spPr>
        <p:txBody>
          <a:bodyPr wrap="square">
            <a:spAutoFit/>
          </a:bodyPr>
          <a:lstStyle/>
          <a:p>
            <a:pPr>
              <a:spcAft>
                <a:spcPts val="400"/>
              </a:spcAft>
              <a:defRPr sz="1600" b="1">
                <a:solidFill>
                  <a:srgbClr val="34D399"/>
                </a:solidFill>
                <a:latin typeface="Arial"/>
              </a:defRPr>
            </a:pPr>
            <a:r>
              <a:t>21KM INDIVIDUAL</a:t>
            </a:r>
          </a:p>
          <a:p>
            <a:pPr>
              <a:spcAft>
                <a:spcPts val="2000"/>
              </a:spcAft>
              <a:defRPr sz="1100">
                <a:solidFill>
                  <a:srgbClr val="A0AEC0"/>
                </a:solidFill>
                <a:latin typeface="Arial"/>
              </a:defRPr>
            </a:pPr>
            <a:r>
              <a:t>Baseline Anchor Category</a:t>
            </a:r>
          </a:p>
          <a:p>
            <a:pPr>
              <a:spcAft>
                <a:spcPts val="1000"/>
              </a:spcAft>
              <a:defRPr sz="1200">
                <a:solidFill>
                  <a:srgbClr val="F5F7FA"/>
                </a:solidFill>
                <a:latin typeface="Arial"/>
              </a:defRPr>
            </a:pPr>
            <a:r>
              <a:t>•  1st Place Open: RM 2,000</a:t>
            </a:r>
          </a:p>
          <a:p>
            <a:pPr>
              <a:spcAft>
                <a:spcPts val="1000"/>
              </a:spcAft>
              <a:defRPr sz="1200">
                <a:solidFill>
                  <a:srgbClr val="F5F7FA"/>
                </a:solidFill>
                <a:latin typeface="Arial"/>
              </a:defRPr>
            </a:pPr>
            <a:r>
              <a:t>•  1st Place Veteran: RM 2,000 (Same as Open)</a:t>
            </a:r>
          </a:p>
          <a:p>
            <a:pPr>
              <a:spcAft>
                <a:spcPts val="1000"/>
              </a:spcAft>
              <a:defRPr sz="1200">
                <a:solidFill>
                  <a:srgbClr val="F5F7FA"/>
                </a:solidFill>
                <a:latin typeface="Arial"/>
              </a:defRPr>
            </a:pPr>
            <a:r>
              <a:t>•  Age Groups: Men (18-39, 40+), Women (18-39, 40+)</a:t>
            </a:r>
          </a:p>
          <a:p>
            <a:pPr>
              <a:spcAft>
                <a:spcPts val="1000"/>
              </a:spcAft>
              <a:defRPr sz="1200">
                <a:solidFill>
                  <a:srgbClr val="F5F7FA"/>
                </a:solidFill>
                <a:latin typeface="Arial"/>
              </a:defRPr>
            </a:pPr>
            <a:r>
              <a:t>•  Standard Malaysian decay curve applied to subsequent ranks.</a:t>
            </a:r>
          </a:p>
        </p:txBody>
      </p:sp>
      <p:sp>
        <p:nvSpPr>
          <p:cNvPr id="5" name="Rounded Rectangle 4"/>
          <p:cNvSpPr/>
          <p:nvPr/>
        </p:nvSpPr>
        <p:spPr>
          <a:xfrm>
            <a:off x="4434840" y="1828800"/>
            <a:ext cx="3291840" cy="3840480"/>
          </a:xfrm>
          <a:prstGeom prst="roundRect">
            <a:avLst/>
          </a:prstGeom>
          <a:solidFill>
            <a:srgbClr val="1E2530"/>
          </a:solidFill>
          <a:ln>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17720" y="2011680"/>
            <a:ext cx="2926080" cy="3474720"/>
          </a:xfrm>
          <a:prstGeom prst="rect">
            <a:avLst/>
          </a:prstGeom>
          <a:noFill/>
        </p:spPr>
        <p:txBody>
          <a:bodyPr wrap="square">
            <a:spAutoFit/>
          </a:bodyPr>
          <a:lstStyle/>
          <a:p>
            <a:pPr>
              <a:spcAft>
                <a:spcPts val="400"/>
              </a:spcAft>
              <a:defRPr sz="1600" b="1">
                <a:solidFill>
                  <a:srgbClr val="60A5FA"/>
                </a:solidFill>
                <a:latin typeface="Arial"/>
              </a:defRPr>
            </a:pPr>
            <a:r>
              <a:t>21KM GROUP RELAY</a:t>
            </a:r>
          </a:p>
          <a:p>
            <a:pPr>
              <a:spcAft>
                <a:spcPts val="2000"/>
              </a:spcAft>
              <a:defRPr sz="1100">
                <a:solidFill>
                  <a:srgbClr val="A0AEC0"/>
                </a:solidFill>
                <a:latin typeface="Arial"/>
              </a:defRPr>
            </a:pPr>
            <a:r>
              <a:t>Special Team Category (4 Runners)</a:t>
            </a:r>
          </a:p>
          <a:p>
            <a:pPr>
              <a:spcAft>
                <a:spcPts val="1000"/>
              </a:spcAft>
              <a:defRPr sz="1200">
                <a:solidFill>
                  <a:srgbClr val="F5F7FA"/>
                </a:solidFill>
                <a:latin typeface="Arial"/>
              </a:defRPr>
            </a:pPr>
            <a:r>
              <a:t>•  1st Place Team: RM 1,000 (RM 250/runner)</a:t>
            </a:r>
          </a:p>
          <a:p>
            <a:pPr>
              <a:spcAft>
                <a:spcPts val="1000"/>
              </a:spcAft>
              <a:defRPr sz="1200">
                <a:solidFill>
                  <a:srgbClr val="F5F7FA"/>
                </a:solidFill>
                <a:latin typeface="Arial"/>
              </a:defRPr>
            </a:pPr>
            <a:r>
              <a:t>•  Awards restricted to Top 3 Teams only</a:t>
            </a:r>
          </a:p>
          <a:p>
            <a:pPr>
              <a:spcAft>
                <a:spcPts val="1000"/>
              </a:spcAft>
              <a:defRPr sz="1200">
                <a:solidFill>
                  <a:srgbClr val="F5F7FA"/>
                </a:solidFill>
                <a:latin typeface="Arial"/>
              </a:defRPr>
            </a:pPr>
            <a:r>
              <a:t>•  Relay exclusively organized for the 21KM distance</a:t>
            </a:r>
          </a:p>
          <a:p>
            <a:pPr>
              <a:spcAft>
                <a:spcPts val="1000"/>
              </a:spcAft>
              <a:defRPr sz="1200">
                <a:solidFill>
                  <a:srgbClr val="F5F7FA"/>
                </a:solidFill>
                <a:latin typeface="Arial"/>
              </a:defRPr>
            </a:pPr>
            <a:r>
              <a:t>•  Fosters team spirit and athletic club engagement.</a:t>
            </a:r>
          </a:p>
        </p:txBody>
      </p:sp>
      <p:sp>
        <p:nvSpPr>
          <p:cNvPr id="7" name="Rounded Rectangle 6"/>
          <p:cNvSpPr/>
          <p:nvPr/>
        </p:nvSpPr>
        <p:spPr>
          <a:xfrm>
            <a:off x="8183879" y="1828800"/>
            <a:ext cx="3291840" cy="3840480"/>
          </a:xfrm>
          <a:prstGeom prst="roundRect">
            <a:avLst/>
          </a:prstGeom>
          <a:solidFill>
            <a:srgbClr val="1E2530"/>
          </a:solidFill>
          <a:ln>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66759" y="2011680"/>
            <a:ext cx="2926080" cy="3474720"/>
          </a:xfrm>
          <a:prstGeom prst="rect">
            <a:avLst/>
          </a:prstGeom>
          <a:noFill/>
        </p:spPr>
        <p:txBody>
          <a:bodyPr wrap="square">
            <a:spAutoFit/>
          </a:bodyPr>
          <a:lstStyle/>
          <a:p>
            <a:pPr>
              <a:spcAft>
                <a:spcPts val="400"/>
              </a:spcAft>
              <a:defRPr sz="1600" b="1">
                <a:solidFill>
                  <a:srgbClr val="F5F7FA"/>
                </a:solidFill>
                <a:latin typeface="Arial"/>
              </a:defRPr>
            </a:pPr>
            <a:r>
              <a:t>10KM INDIVIDUAL</a:t>
            </a:r>
          </a:p>
          <a:p>
            <a:pPr>
              <a:spcAft>
                <a:spcPts val="2000"/>
              </a:spcAft>
              <a:defRPr sz="1100">
                <a:solidFill>
                  <a:srgbClr val="A0AEC0"/>
                </a:solidFill>
                <a:latin typeface="Arial"/>
              </a:defRPr>
            </a:pPr>
            <a:r>
              <a:t>Short Distance Competitive</a:t>
            </a:r>
          </a:p>
          <a:p>
            <a:pPr>
              <a:spcAft>
                <a:spcPts val="1000"/>
              </a:spcAft>
              <a:defRPr sz="1200">
                <a:solidFill>
                  <a:srgbClr val="F5F7FA"/>
                </a:solidFill>
                <a:latin typeface="Arial"/>
              </a:defRPr>
            </a:pPr>
            <a:r>
              <a:t>•  1st Place Open: RM 1,000</a:t>
            </a:r>
          </a:p>
          <a:p>
            <a:pPr>
              <a:spcAft>
                <a:spcPts val="1000"/>
              </a:spcAft>
              <a:defRPr sz="1200">
                <a:solidFill>
                  <a:srgbClr val="F5F7FA"/>
                </a:solidFill>
                <a:latin typeface="Arial"/>
              </a:defRPr>
            </a:pPr>
            <a:r>
              <a:t>•  1st Place Veteran: RM 1,000 (Same as Open)</a:t>
            </a:r>
          </a:p>
          <a:p>
            <a:pPr>
              <a:spcAft>
                <a:spcPts val="1000"/>
              </a:spcAft>
              <a:defRPr sz="1200">
                <a:solidFill>
                  <a:srgbClr val="F5F7FA"/>
                </a:solidFill>
                <a:latin typeface="Arial"/>
              </a:defRPr>
            </a:pPr>
            <a:r>
              <a:t>•  Prizes scaled at 50% of the 21KM baseline</a:t>
            </a:r>
          </a:p>
          <a:p>
            <a:pPr>
              <a:spcAft>
                <a:spcPts val="1000"/>
              </a:spcAft>
              <a:defRPr sz="1200">
                <a:solidFill>
                  <a:srgbClr val="F5F7FA"/>
                </a:solidFill>
                <a:latin typeface="Arial"/>
              </a:defRPr>
            </a:pPr>
            <a:r>
              <a:t>•  Keeps categories balanced while rewarding fast runners.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TextBox 1"/>
          <p:cNvSpPr txBox="1"/>
          <p:nvPr/>
        </p:nvSpPr>
        <p:spPr>
          <a:xfrm>
            <a:off x="685800" y="457200"/>
            <a:ext cx="10817352" cy="1097280"/>
          </a:xfrm>
          <a:prstGeom prst="rect">
            <a:avLst/>
          </a:prstGeom>
          <a:noFill/>
        </p:spPr>
        <p:txBody>
          <a:bodyPr wrap="square" lIns="0" tIns="0" bIns="0" rIns="0">
            <a:spAutoFit/>
          </a:bodyPr>
          <a:lstStyle/>
          <a:p>
            <a:pPr>
              <a:defRPr sz="2800" b="1">
                <a:solidFill>
                  <a:srgbClr val="F5F7FA"/>
                </a:solidFill>
                <a:latin typeface="Georgia"/>
              </a:defRPr>
            </a:pPr>
            <a:r>
              <a:t>Option A: Premium Cash Structure (1st to 10th)</a:t>
            </a:r>
          </a:p>
          <a:p>
            <a:pPr>
              <a:spcBef>
                <a:spcPts val="600"/>
              </a:spcBef>
              <a:defRPr sz="1400">
                <a:solidFill>
                  <a:srgbClr val="A0AEC0"/>
                </a:solidFill>
                <a:latin typeface="Arial"/>
              </a:defRPr>
            </a:pPr>
            <a:r>
              <a:t>Distributes cash down to the 10th position for all individual runs</a:t>
            </a:r>
          </a:p>
        </p:txBody>
      </p:sp>
      <p:graphicFrame>
        <p:nvGraphicFramePr>
          <p:cNvPr id="3" name="Table 2"/>
          <p:cNvGraphicFramePr>
            <a:graphicFrameLocks noGrp="1"/>
          </p:cNvGraphicFramePr>
          <p:nvPr/>
        </p:nvGraphicFramePr>
        <p:xfrm>
          <a:off x="685800" y="1828800"/>
          <a:ext cx="10817352" cy="4114800"/>
        </p:xfrm>
        <a:graphic>
          <a:graphicData uri="http://schemas.openxmlformats.org/drawingml/2006/table">
            <a:tbl>
              <a:tblPr firstRow="1" bandRow="1">
                <a:tableStyleId>{5C22544A-7EE6-4342-B048-85BDC9FD1C3A}</a:tableStyleId>
              </a:tblPr>
              <a:tblGrid>
                <a:gridCol w="2587752"/>
                <a:gridCol w="1371600"/>
                <a:gridCol w="1371600"/>
                <a:gridCol w="1371600"/>
                <a:gridCol w="1371600"/>
                <a:gridCol w="1371600"/>
                <a:gridCol w="1371600"/>
              </a:tblGrid>
              <a:tr h="685800">
                <a:tc>
                  <a:txBody>
                    <a:bodyPr/>
                    <a:lstStyle/>
                    <a:p>
                      <a:pPr algn="l">
                        <a:defRPr sz="1300" b="1">
                          <a:solidFill>
                            <a:srgbClr val="F5F7FA"/>
                          </a:solidFill>
                          <a:latin typeface="Arial"/>
                        </a:defRPr>
                      </a:pPr>
                      <a:r>
                        <a:t>Category</a:t>
                      </a:r>
                    </a:p>
                  </a:txBody>
                  <a:tcPr>
                    <a:solidFill>
                      <a:srgbClr val="2D3748"/>
                    </a:solidFill>
                  </a:tcPr>
                </a:tc>
                <a:tc>
                  <a:txBody>
                    <a:bodyPr/>
                    <a:lstStyle/>
                    <a:p>
                      <a:pPr algn="ctr">
                        <a:defRPr sz="1300" b="1">
                          <a:solidFill>
                            <a:srgbClr val="F5F7FA"/>
                          </a:solidFill>
                          <a:latin typeface="Arial"/>
                        </a:defRPr>
                      </a:pPr>
                      <a:r>
                        <a:t>1st</a:t>
                      </a:r>
                    </a:p>
                  </a:txBody>
                  <a:tcPr>
                    <a:solidFill>
                      <a:srgbClr val="2D3748"/>
                    </a:solidFill>
                  </a:tcPr>
                </a:tc>
                <a:tc>
                  <a:txBody>
                    <a:bodyPr/>
                    <a:lstStyle/>
                    <a:p>
                      <a:pPr algn="ctr">
                        <a:defRPr sz="1300" b="1">
                          <a:solidFill>
                            <a:srgbClr val="F5F7FA"/>
                          </a:solidFill>
                          <a:latin typeface="Arial"/>
                        </a:defRPr>
                      </a:pPr>
                      <a:r>
                        <a:t>2nd</a:t>
                      </a:r>
                    </a:p>
                  </a:txBody>
                  <a:tcPr>
                    <a:solidFill>
                      <a:srgbClr val="2D3748"/>
                    </a:solidFill>
                  </a:tcPr>
                </a:tc>
                <a:tc>
                  <a:txBody>
                    <a:bodyPr/>
                    <a:lstStyle/>
                    <a:p>
                      <a:pPr algn="ctr">
                        <a:defRPr sz="1300" b="1">
                          <a:solidFill>
                            <a:srgbClr val="F5F7FA"/>
                          </a:solidFill>
                          <a:latin typeface="Arial"/>
                        </a:defRPr>
                      </a:pPr>
                      <a:r>
                        <a:t>3rd</a:t>
                      </a:r>
                    </a:p>
                  </a:txBody>
                  <a:tcPr>
                    <a:solidFill>
                      <a:srgbClr val="2D3748"/>
                    </a:solidFill>
                  </a:tcPr>
                </a:tc>
                <a:tc>
                  <a:txBody>
                    <a:bodyPr/>
                    <a:lstStyle/>
                    <a:p>
                      <a:pPr algn="ctr">
                        <a:defRPr sz="1300" b="1">
                          <a:solidFill>
                            <a:srgbClr val="F5F7FA"/>
                          </a:solidFill>
                          <a:latin typeface="Arial"/>
                        </a:defRPr>
                      </a:pPr>
                      <a:r>
                        <a:t>4th</a:t>
                      </a:r>
                    </a:p>
                  </a:txBody>
                  <a:tcPr>
                    <a:solidFill>
                      <a:srgbClr val="2D3748"/>
                    </a:solidFill>
                  </a:tcPr>
                </a:tc>
                <a:tc>
                  <a:txBody>
                    <a:bodyPr/>
                    <a:lstStyle/>
                    <a:p>
                      <a:pPr algn="ctr">
                        <a:defRPr sz="1300" b="1">
                          <a:solidFill>
                            <a:srgbClr val="F5F7FA"/>
                          </a:solidFill>
                          <a:latin typeface="Arial"/>
                        </a:defRPr>
                      </a:pPr>
                      <a:r>
                        <a:t>5th</a:t>
                      </a:r>
                    </a:p>
                  </a:txBody>
                  <a:tcPr>
                    <a:solidFill>
                      <a:srgbClr val="2D3748"/>
                    </a:solidFill>
                  </a:tcPr>
                </a:tc>
                <a:tc>
                  <a:txBody>
                    <a:bodyPr/>
                    <a:lstStyle/>
                    <a:p>
                      <a:pPr algn="ctr">
                        <a:defRPr sz="1300" b="1">
                          <a:solidFill>
                            <a:srgbClr val="F5F7FA"/>
                          </a:solidFill>
                          <a:latin typeface="Arial"/>
                        </a:defRPr>
                      </a:pPr>
                      <a:r>
                        <a:t>6th-10th (each)</a:t>
                      </a:r>
                    </a:p>
                  </a:txBody>
                  <a:tcPr>
                    <a:solidFill>
                      <a:srgbClr val="2D3748"/>
                    </a:solidFill>
                  </a:tcPr>
                </a:tc>
              </a:tr>
              <a:tr h="685800">
                <a:tc>
                  <a:txBody>
                    <a:bodyPr/>
                    <a:lstStyle/>
                    <a:p>
                      <a:pPr algn="l">
                        <a:defRPr sz="1200" b="1">
                          <a:solidFill>
                            <a:srgbClr val="F5F7FA"/>
                          </a:solidFill>
                          <a:latin typeface="Arial"/>
                        </a:defRPr>
                      </a:pPr>
                      <a:r>
                        <a:t>21KM Men/Women Open</a:t>
                      </a:r>
                    </a:p>
                  </a:txBody>
                  <a:tcPr>
                    <a:solidFill>
                      <a:srgbClr val="1E2530"/>
                    </a:solidFill>
                  </a:tcPr>
                </a:tc>
                <a:tc>
                  <a:txBody>
                    <a:bodyPr/>
                    <a:lstStyle/>
                    <a:p>
                      <a:pPr algn="ctr">
                        <a:defRPr sz="1200">
                          <a:solidFill>
                            <a:srgbClr val="34D399"/>
                          </a:solidFill>
                          <a:latin typeface="Arial"/>
                        </a:defRPr>
                      </a:pPr>
                      <a:r>
                        <a:t>RM 2,000</a:t>
                      </a:r>
                    </a:p>
                  </a:txBody>
                  <a:tcPr>
                    <a:solidFill>
                      <a:srgbClr val="1E2530"/>
                    </a:solidFill>
                  </a:tcPr>
                </a:tc>
                <a:tc>
                  <a:txBody>
                    <a:bodyPr/>
                    <a:lstStyle/>
                    <a:p>
                      <a:pPr algn="ctr">
                        <a:defRPr sz="1200">
                          <a:solidFill>
                            <a:srgbClr val="F5F7FA"/>
                          </a:solidFill>
                          <a:latin typeface="Arial"/>
                        </a:defRPr>
                      </a:pPr>
                      <a:r>
                        <a:t>RM 1,200</a:t>
                      </a:r>
                    </a:p>
                  </a:txBody>
                  <a:tcPr>
                    <a:solidFill>
                      <a:srgbClr val="1E2530"/>
                    </a:solidFill>
                  </a:tcPr>
                </a:tc>
                <a:tc>
                  <a:txBody>
                    <a:bodyPr/>
                    <a:lstStyle/>
                    <a:p>
                      <a:pPr algn="ctr">
                        <a:defRPr sz="1200">
                          <a:solidFill>
                            <a:srgbClr val="F5F7FA"/>
                          </a:solidFill>
                          <a:latin typeface="Arial"/>
                        </a:defRPr>
                      </a:pPr>
                      <a:r>
                        <a:t>RM 800</a:t>
                      </a:r>
                    </a:p>
                  </a:txBody>
                  <a:tcPr>
                    <a:solidFill>
                      <a:srgbClr val="1E2530"/>
                    </a:solidFill>
                  </a:tcPr>
                </a:tc>
                <a:tc>
                  <a:txBody>
                    <a:bodyPr/>
                    <a:lstStyle/>
                    <a:p>
                      <a:pPr algn="ctr">
                        <a:defRPr sz="1200">
                          <a:solidFill>
                            <a:srgbClr val="F5F7FA"/>
                          </a:solidFill>
                          <a:latin typeface="Arial"/>
                        </a:defRPr>
                      </a:pPr>
                      <a:r>
                        <a:t>RM 500</a:t>
                      </a:r>
                    </a:p>
                  </a:txBody>
                  <a:tcPr>
                    <a:solidFill>
                      <a:srgbClr val="1E2530"/>
                    </a:solidFill>
                  </a:tcPr>
                </a:tc>
                <a:tc>
                  <a:txBody>
                    <a:bodyPr/>
                    <a:lstStyle/>
                    <a:p>
                      <a:pPr algn="ctr">
                        <a:defRPr sz="1200">
                          <a:solidFill>
                            <a:srgbClr val="F5F7FA"/>
                          </a:solidFill>
                          <a:latin typeface="Arial"/>
                        </a:defRPr>
                      </a:pPr>
                      <a:r>
                        <a:t>RM 300</a:t>
                      </a:r>
                    </a:p>
                  </a:txBody>
                  <a:tcPr>
                    <a:solidFill>
                      <a:srgbClr val="1E2530"/>
                    </a:solidFill>
                  </a:tcPr>
                </a:tc>
                <a:tc>
                  <a:txBody>
                    <a:bodyPr/>
                    <a:lstStyle/>
                    <a:p>
                      <a:pPr algn="ctr">
                        <a:defRPr sz="1200">
                          <a:solidFill>
                            <a:srgbClr val="F5F7FA"/>
                          </a:solidFill>
                          <a:latin typeface="Arial"/>
                        </a:defRPr>
                      </a:pPr>
                      <a:r>
                        <a:t>RM 150</a:t>
                      </a:r>
                    </a:p>
                  </a:txBody>
                  <a:tcPr>
                    <a:solidFill>
                      <a:srgbClr val="1E2530"/>
                    </a:solidFill>
                  </a:tcPr>
                </a:tc>
              </a:tr>
              <a:tr h="685800">
                <a:tc>
                  <a:txBody>
                    <a:bodyPr/>
                    <a:lstStyle/>
                    <a:p>
                      <a:pPr algn="l">
                        <a:defRPr sz="1200" b="1">
                          <a:solidFill>
                            <a:srgbClr val="F5F7FA"/>
                          </a:solidFill>
                          <a:latin typeface="Arial"/>
                        </a:defRPr>
                      </a:pPr>
                      <a:r>
                        <a:t>21KM Men/Women Veteran</a:t>
                      </a:r>
                    </a:p>
                  </a:txBody>
                  <a:tcPr>
                    <a:solidFill>
                      <a:srgbClr val="1E2530"/>
                    </a:solidFill>
                  </a:tcPr>
                </a:tc>
                <a:tc>
                  <a:txBody>
                    <a:bodyPr/>
                    <a:lstStyle/>
                    <a:p>
                      <a:pPr algn="ctr">
                        <a:defRPr sz="1200">
                          <a:solidFill>
                            <a:srgbClr val="34D399"/>
                          </a:solidFill>
                          <a:latin typeface="Arial"/>
                        </a:defRPr>
                      </a:pPr>
                      <a:r>
                        <a:t>RM 2,000</a:t>
                      </a:r>
                    </a:p>
                  </a:txBody>
                  <a:tcPr>
                    <a:solidFill>
                      <a:srgbClr val="1E2530"/>
                    </a:solidFill>
                  </a:tcPr>
                </a:tc>
                <a:tc>
                  <a:txBody>
                    <a:bodyPr/>
                    <a:lstStyle/>
                    <a:p>
                      <a:pPr algn="ctr">
                        <a:defRPr sz="1200">
                          <a:solidFill>
                            <a:srgbClr val="F5F7FA"/>
                          </a:solidFill>
                          <a:latin typeface="Arial"/>
                        </a:defRPr>
                      </a:pPr>
                      <a:r>
                        <a:t>RM 1,200</a:t>
                      </a:r>
                    </a:p>
                  </a:txBody>
                  <a:tcPr>
                    <a:solidFill>
                      <a:srgbClr val="1E2530"/>
                    </a:solidFill>
                  </a:tcPr>
                </a:tc>
                <a:tc>
                  <a:txBody>
                    <a:bodyPr/>
                    <a:lstStyle/>
                    <a:p>
                      <a:pPr algn="ctr">
                        <a:defRPr sz="1200">
                          <a:solidFill>
                            <a:srgbClr val="F5F7FA"/>
                          </a:solidFill>
                          <a:latin typeface="Arial"/>
                        </a:defRPr>
                      </a:pPr>
                      <a:r>
                        <a:t>RM 800</a:t>
                      </a:r>
                    </a:p>
                  </a:txBody>
                  <a:tcPr>
                    <a:solidFill>
                      <a:srgbClr val="1E2530"/>
                    </a:solidFill>
                  </a:tcPr>
                </a:tc>
                <a:tc>
                  <a:txBody>
                    <a:bodyPr/>
                    <a:lstStyle/>
                    <a:p>
                      <a:pPr algn="ctr">
                        <a:defRPr sz="1200">
                          <a:solidFill>
                            <a:srgbClr val="F5F7FA"/>
                          </a:solidFill>
                          <a:latin typeface="Arial"/>
                        </a:defRPr>
                      </a:pPr>
                      <a:r>
                        <a:t>RM 500</a:t>
                      </a:r>
                    </a:p>
                  </a:txBody>
                  <a:tcPr>
                    <a:solidFill>
                      <a:srgbClr val="1E2530"/>
                    </a:solidFill>
                  </a:tcPr>
                </a:tc>
                <a:tc>
                  <a:txBody>
                    <a:bodyPr/>
                    <a:lstStyle/>
                    <a:p>
                      <a:pPr algn="ctr">
                        <a:defRPr sz="1200">
                          <a:solidFill>
                            <a:srgbClr val="F5F7FA"/>
                          </a:solidFill>
                          <a:latin typeface="Arial"/>
                        </a:defRPr>
                      </a:pPr>
                      <a:r>
                        <a:t>RM 300</a:t>
                      </a:r>
                    </a:p>
                  </a:txBody>
                  <a:tcPr>
                    <a:solidFill>
                      <a:srgbClr val="1E2530"/>
                    </a:solidFill>
                  </a:tcPr>
                </a:tc>
                <a:tc>
                  <a:txBody>
                    <a:bodyPr/>
                    <a:lstStyle/>
                    <a:p>
                      <a:pPr algn="ctr">
                        <a:defRPr sz="1200">
                          <a:solidFill>
                            <a:srgbClr val="F5F7FA"/>
                          </a:solidFill>
                          <a:latin typeface="Arial"/>
                        </a:defRPr>
                      </a:pPr>
                      <a:r>
                        <a:t>RM 150</a:t>
                      </a:r>
                    </a:p>
                  </a:txBody>
                  <a:tcPr>
                    <a:solidFill>
                      <a:srgbClr val="1E2530"/>
                    </a:solidFill>
                  </a:tcPr>
                </a:tc>
              </a:tr>
              <a:tr h="685800">
                <a:tc>
                  <a:txBody>
                    <a:bodyPr/>
                    <a:lstStyle/>
                    <a:p>
                      <a:pPr algn="l">
                        <a:defRPr sz="1200" b="1">
                          <a:solidFill>
                            <a:srgbClr val="F5F7FA"/>
                          </a:solidFill>
                          <a:latin typeface="Arial"/>
                        </a:defRPr>
                      </a:pPr>
                      <a:r>
                        <a:t>21KM Group Relay (Team)</a:t>
                      </a:r>
                    </a:p>
                  </a:txBody>
                  <a:tcPr>
                    <a:solidFill>
                      <a:srgbClr val="1E2530"/>
                    </a:solidFill>
                  </a:tcPr>
                </a:tc>
                <a:tc>
                  <a:txBody>
                    <a:bodyPr/>
                    <a:lstStyle/>
                    <a:p>
                      <a:pPr algn="ctr">
                        <a:defRPr sz="1200">
                          <a:solidFill>
                            <a:srgbClr val="34D399"/>
                          </a:solidFill>
                          <a:latin typeface="Arial"/>
                        </a:defRPr>
                      </a:pPr>
                      <a:r>
                        <a:t>RM 1,000</a:t>
                      </a:r>
                    </a:p>
                  </a:txBody>
                  <a:tcPr>
                    <a:solidFill>
                      <a:srgbClr val="1E2530"/>
                    </a:solidFill>
                  </a:tcPr>
                </a:tc>
                <a:tc>
                  <a:txBody>
                    <a:bodyPr/>
                    <a:lstStyle/>
                    <a:p>
                      <a:pPr algn="ctr">
                        <a:defRPr sz="1200">
                          <a:solidFill>
                            <a:srgbClr val="F5F7FA"/>
                          </a:solidFill>
                          <a:latin typeface="Arial"/>
                        </a:defRPr>
                      </a:pPr>
                      <a:r>
                        <a:t>RM 600</a:t>
                      </a:r>
                    </a:p>
                  </a:txBody>
                  <a:tcPr>
                    <a:solidFill>
                      <a:srgbClr val="1E2530"/>
                    </a:solidFill>
                  </a:tcPr>
                </a:tc>
                <a:tc>
                  <a:txBody>
                    <a:bodyPr/>
                    <a:lstStyle/>
                    <a:p>
                      <a:pPr algn="ctr">
                        <a:defRPr sz="1200">
                          <a:solidFill>
                            <a:srgbClr val="F5F7FA"/>
                          </a:solidFill>
                          <a:latin typeface="Arial"/>
                        </a:defRPr>
                      </a:pPr>
                      <a:r>
                        <a:t>RM 400</a:t>
                      </a:r>
                    </a:p>
                  </a:txBody>
                  <a:tcPr>
                    <a:solidFill>
                      <a:srgbClr val="1E2530"/>
                    </a:solidFill>
                  </a:tcPr>
                </a:tc>
                <a:tc>
                  <a:txBody>
                    <a:bodyPr/>
                    <a:lstStyle/>
                    <a:p>
                      <a:pPr algn="ctr">
                        <a:defRPr sz="1200">
                          <a:solidFill>
                            <a:srgbClr val="F5F7FA"/>
                          </a:solidFill>
                          <a:latin typeface="Arial"/>
                        </a:defRPr>
                      </a:pPr>
                      <a:r>
                        <a:t>—</a:t>
                      </a:r>
                    </a:p>
                  </a:txBody>
                  <a:tcPr>
                    <a:solidFill>
                      <a:srgbClr val="1E2530"/>
                    </a:solidFill>
                  </a:tcPr>
                </a:tc>
                <a:tc>
                  <a:txBody>
                    <a:bodyPr/>
                    <a:lstStyle/>
                    <a:p>
                      <a:pPr algn="ctr">
                        <a:defRPr sz="1200">
                          <a:solidFill>
                            <a:srgbClr val="F5F7FA"/>
                          </a:solidFill>
                          <a:latin typeface="Arial"/>
                        </a:defRPr>
                      </a:pPr>
                      <a:r>
                        <a:t>—</a:t>
                      </a:r>
                    </a:p>
                  </a:txBody>
                  <a:tcPr>
                    <a:solidFill>
                      <a:srgbClr val="1E2530"/>
                    </a:solidFill>
                  </a:tcPr>
                </a:tc>
                <a:tc>
                  <a:txBody>
                    <a:bodyPr/>
                    <a:lstStyle/>
                    <a:p>
                      <a:pPr algn="ctr">
                        <a:defRPr sz="1200">
                          <a:solidFill>
                            <a:srgbClr val="F5F7FA"/>
                          </a:solidFill>
                          <a:latin typeface="Arial"/>
                        </a:defRPr>
                      </a:pPr>
                      <a:r>
                        <a:t>—</a:t>
                      </a:r>
                    </a:p>
                  </a:txBody>
                  <a:tcPr>
                    <a:solidFill>
                      <a:srgbClr val="1E2530"/>
                    </a:solidFill>
                  </a:tcPr>
                </a:tc>
              </a:tr>
              <a:tr h="685800">
                <a:tc>
                  <a:txBody>
                    <a:bodyPr/>
                    <a:lstStyle/>
                    <a:p>
                      <a:pPr algn="l">
                        <a:defRPr sz="1200" b="1">
                          <a:solidFill>
                            <a:srgbClr val="F5F7FA"/>
                          </a:solidFill>
                          <a:latin typeface="Arial"/>
                        </a:defRPr>
                      </a:pPr>
                      <a:r>
                        <a:t>10KM Men/Women Open</a:t>
                      </a:r>
                    </a:p>
                  </a:txBody>
                  <a:tcPr>
                    <a:solidFill>
                      <a:srgbClr val="1E2530"/>
                    </a:solidFill>
                  </a:tcPr>
                </a:tc>
                <a:tc>
                  <a:txBody>
                    <a:bodyPr/>
                    <a:lstStyle/>
                    <a:p>
                      <a:pPr algn="ctr">
                        <a:defRPr sz="1200">
                          <a:solidFill>
                            <a:srgbClr val="34D399"/>
                          </a:solidFill>
                          <a:latin typeface="Arial"/>
                        </a:defRPr>
                      </a:pPr>
                      <a:r>
                        <a:t>RM 1,000</a:t>
                      </a:r>
                    </a:p>
                  </a:txBody>
                  <a:tcPr>
                    <a:solidFill>
                      <a:srgbClr val="1E2530"/>
                    </a:solidFill>
                  </a:tcPr>
                </a:tc>
                <a:tc>
                  <a:txBody>
                    <a:bodyPr/>
                    <a:lstStyle/>
                    <a:p>
                      <a:pPr algn="ctr">
                        <a:defRPr sz="1200">
                          <a:solidFill>
                            <a:srgbClr val="F5F7FA"/>
                          </a:solidFill>
                          <a:latin typeface="Arial"/>
                        </a:defRPr>
                      </a:pPr>
                      <a:r>
                        <a:t>RM 600</a:t>
                      </a:r>
                    </a:p>
                  </a:txBody>
                  <a:tcPr>
                    <a:solidFill>
                      <a:srgbClr val="1E2530"/>
                    </a:solidFill>
                  </a:tcPr>
                </a:tc>
                <a:tc>
                  <a:txBody>
                    <a:bodyPr/>
                    <a:lstStyle/>
                    <a:p>
                      <a:pPr algn="ctr">
                        <a:defRPr sz="1200">
                          <a:solidFill>
                            <a:srgbClr val="F5F7FA"/>
                          </a:solidFill>
                          <a:latin typeface="Arial"/>
                        </a:defRPr>
                      </a:pPr>
                      <a:r>
                        <a:t>RM 400</a:t>
                      </a:r>
                    </a:p>
                  </a:txBody>
                  <a:tcPr>
                    <a:solidFill>
                      <a:srgbClr val="1E2530"/>
                    </a:solidFill>
                  </a:tcPr>
                </a:tc>
                <a:tc>
                  <a:txBody>
                    <a:bodyPr/>
                    <a:lstStyle/>
                    <a:p>
                      <a:pPr algn="ctr">
                        <a:defRPr sz="1200">
                          <a:solidFill>
                            <a:srgbClr val="F5F7FA"/>
                          </a:solidFill>
                          <a:latin typeface="Arial"/>
                        </a:defRPr>
                      </a:pPr>
                      <a:r>
                        <a:t>RM 250</a:t>
                      </a:r>
                    </a:p>
                  </a:txBody>
                  <a:tcPr>
                    <a:solidFill>
                      <a:srgbClr val="1E2530"/>
                    </a:solidFill>
                  </a:tcPr>
                </a:tc>
                <a:tc>
                  <a:txBody>
                    <a:bodyPr/>
                    <a:lstStyle/>
                    <a:p>
                      <a:pPr algn="ctr">
                        <a:defRPr sz="1200">
                          <a:solidFill>
                            <a:srgbClr val="F5F7FA"/>
                          </a:solidFill>
                          <a:latin typeface="Arial"/>
                        </a:defRPr>
                      </a:pPr>
                      <a:r>
                        <a:t>RM 150</a:t>
                      </a:r>
                    </a:p>
                  </a:txBody>
                  <a:tcPr>
                    <a:solidFill>
                      <a:srgbClr val="1E2530"/>
                    </a:solidFill>
                  </a:tcPr>
                </a:tc>
                <a:tc>
                  <a:txBody>
                    <a:bodyPr/>
                    <a:lstStyle/>
                    <a:p>
                      <a:pPr algn="ctr">
                        <a:defRPr sz="1200">
                          <a:solidFill>
                            <a:srgbClr val="F5F7FA"/>
                          </a:solidFill>
                          <a:latin typeface="Arial"/>
                        </a:defRPr>
                      </a:pPr>
                      <a:r>
                        <a:t>RM 80</a:t>
                      </a:r>
                    </a:p>
                  </a:txBody>
                  <a:tcPr>
                    <a:solidFill>
                      <a:srgbClr val="1E2530"/>
                    </a:solidFill>
                  </a:tcPr>
                </a:tc>
              </a:tr>
              <a:tr h="685800">
                <a:tc>
                  <a:txBody>
                    <a:bodyPr/>
                    <a:lstStyle/>
                    <a:p>
                      <a:pPr algn="l">
                        <a:defRPr sz="1200" b="1">
                          <a:solidFill>
                            <a:srgbClr val="F5F7FA"/>
                          </a:solidFill>
                          <a:latin typeface="Arial"/>
                        </a:defRPr>
                      </a:pPr>
                      <a:r>
                        <a:t>10KM Men/Women Veteran</a:t>
                      </a:r>
                    </a:p>
                  </a:txBody>
                  <a:tcPr>
                    <a:solidFill>
                      <a:srgbClr val="1E2530"/>
                    </a:solidFill>
                  </a:tcPr>
                </a:tc>
                <a:tc>
                  <a:txBody>
                    <a:bodyPr/>
                    <a:lstStyle/>
                    <a:p>
                      <a:pPr algn="ctr">
                        <a:defRPr sz="1200">
                          <a:solidFill>
                            <a:srgbClr val="34D399"/>
                          </a:solidFill>
                          <a:latin typeface="Arial"/>
                        </a:defRPr>
                      </a:pPr>
                      <a:r>
                        <a:t>RM 1,000</a:t>
                      </a:r>
                    </a:p>
                  </a:txBody>
                  <a:tcPr>
                    <a:solidFill>
                      <a:srgbClr val="1E2530"/>
                    </a:solidFill>
                  </a:tcPr>
                </a:tc>
                <a:tc>
                  <a:txBody>
                    <a:bodyPr/>
                    <a:lstStyle/>
                    <a:p>
                      <a:pPr algn="ctr">
                        <a:defRPr sz="1200">
                          <a:solidFill>
                            <a:srgbClr val="F5F7FA"/>
                          </a:solidFill>
                          <a:latin typeface="Arial"/>
                        </a:defRPr>
                      </a:pPr>
                      <a:r>
                        <a:t>RM 600</a:t>
                      </a:r>
                    </a:p>
                  </a:txBody>
                  <a:tcPr>
                    <a:solidFill>
                      <a:srgbClr val="1E2530"/>
                    </a:solidFill>
                  </a:tcPr>
                </a:tc>
                <a:tc>
                  <a:txBody>
                    <a:bodyPr/>
                    <a:lstStyle/>
                    <a:p>
                      <a:pPr algn="ctr">
                        <a:defRPr sz="1200">
                          <a:solidFill>
                            <a:srgbClr val="F5F7FA"/>
                          </a:solidFill>
                          <a:latin typeface="Arial"/>
                        </a:defRPr>
                      </a:pPr>
                      <a:r>
                        <a:t>RM 400</a:t>
                      </a:r>
                    </a:p>
                  </a:txBody>
                  <a:tcPr>
                    <a:solidFill>
                      <a:srgbClr val="1E2530"/>
                    </a:solidFill>
                  </a:tcPr>
                </a:tc>
                <a:tc>
                  <a:txBody>
                    <a:bodyPr/>
                    <a:lstStyle/>
                    <a:p>
                      <a:pPr algn="ctr">
                        <a:defRPr sz="1200">
                          <a:solidFill>
                            <a:srgbClr val="F5F7FA"/>
                          </a:solidFill>
                          <a:latin typeface="Arial"/>
                        </a:defRPr>
                      </a:pPr>
                      <a:r>
                        <a:t>RM 250</a:t>
                      </a:r>
                    </a:p>
                  </a:txBody>
                  <a:tcPr>
                    <a:solidFill>
                      <a:srgbClr val="1E2530"/>
                    </a:solidFill>
                  </a:tcPr>
                </a:tc>
                <a:tc>
                  <a:txBody>
                    <a:bodyPr/>
                    <a:lstStyle/>
                    <a:p>
                      <a:pPr algn="ctr">
                        <a:defRPr sz="1200">
                          <a:solidFill>
                            <a:srgbClr val="F5F7FA"/>
                          </a:solidFill>
                          <a:latin typeface="Arial"/>
                        </a:defRPr>
                      </a:pPr>
                      <a:r>
                        <a:t>RM 150</a:t>
                      </a:r>
                    </a:p>
                  </a:txBody>
                  <a:tcPr>
                    <a:solidFill>
                      <a:srgbClr val="1E2530"/>
                    </a:solidFill>
                  </a:tcPr>
                </a:tc>
                <a:tc>
                  <a:txBody>
                    <a:bodyPr/>
                    <a:lstStyle/>
                    <a:p>
                      <a:pPr algn="ctr">
                        <a:defRPr sz="1200">
                          <a:solidFill>
                            <a:srgbClr val="F5F7FA"/>
                          </a:solidFill>
                          <a:latin typeface="Arial"/>
                        </a:defRPr>
                      </a:pPr>
                      <a:r>
                        <a:t>RM 80</a:t>
                      </a:r>
                    </a:p>
                  </a:txBody>
                  <a:tcPr>
                    <a:solidFill>
                      <a:srgbClr val="1E2530"/>
                    </a:solidFill>
                  </a:tcPr>
                </a:tc>
              </a:tr>
            </a:tbl>
          </a:graphicData>
        </a:graphic>
      </p:graphicFrame>
      <p:sp>
        <p:nvSpPr>
          <p:cNvPr id="4" name="TextBox 3"/>
          <p:cNvSpPr txBox="1"/>
          <p:nvPr/>
        </p:nvSpPr>
        <p:spPr>
          <a:xfrm>
            <a:off x="685800" y="6035040"/>
            <a:ext cx="10817352" cy="457200"/>
          </a:xfrm>
          <a:prstGeom prst="rect">
            <a:avLst/>
          </a:prstGeom>
          <a:noFill/>
        </p:spPr>
        <p:txBody>
          <a:bodyPr wrap="none">
            <a:spAutoFit/>
          </a:bodyPr>
          <a:lstStyle/>
          <a:p>
            <a:pPr>
              <a:defRPr sz="1400" b="1">
                <a:solidFill>
                  <a:srgbClr val="34D399"/>
                </a:solidFill>
                <a:latin typeface="Arial"/>
              </a:defRPr>
            </a:pPr>
            <a:r>
              <a:t>Total Cash Prize Budget Required (Option A): RM 35,400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TextBox 1"/>
          <p:cNvSpPr txBox="1"/>
          <p:nvPr/>
        </p:nvSpPr>
        <p:spPr>
          <a:xfrm>
            <a:off x="685800" y="457200"/>
            <a:ext cx="10817352" cy="1097280"/>
          </a:xfrm>
          <a:prstGeom prst="rect">
            <a:avLst/>
          </a:prstGeom>
          <a:noFill/>
        </p:spPr>
        <p:txBody>
          <a:bodyPr wrap="square" lIns="0" tIns="0" bIns="0" rIns="0">
            <a:spAutoFit/>
          </a:bodyPr>
          <a:lstStyle/>
          <a:p>
            <a:pPr>
              <a:defRPr sz="2800" b="1">
                <a:solidFill>
                  <a:srgbClr val="F5F7FA"/>
                </a:solidFill>
                <a:latin typeface="Georgia"/>
              </a:defRPr>
            </a:pPr>
            <a:r>
              <a:t>Option B: Budget-Saver Structure (1st to 5th)</a:t>
            </a:r>
          </a:p>
          <a:p>
            <a:pPr>
              <a:spcBef>
                <a:spcPts val="600"/>
              </a:spcBef>
              <a:defRPr sz="1400">
                <a:solidFill>
                  <a:srgbClr val="A0AEC0"/>
                </a:solidFill>
                <a:latin typeface="Arial"/>
              </a:defRPr>
            </a:pPr>
            <a:r>
              <a:t>Focuses cash prizes on the podium, rewarding 6th-10th with trophies only</a:t>
            </a:r>
          </a:p>
        </p:txBody>
      </p:sp>
      <p:graphicFrame>
        <p:nvGraphicFramePr>
          <p:cNvPr id="3" name="Table 2"/>
          <p:cNvGraphicFramePr>
            <a:graphicFrameLocks noGrp="1"/>
          </p:cNvGraphicFramePr>
          <p:nvPr/>
        </p:nvGraphicFramePr>
        <p:xfrm>
          <a:off x="685800" y="1828800"/>
          <a:ext cx="10817352" cy="4114800"/>
        </p:xfrm>
        <a:graphic>
          <a:graphicData uri="http://schemas.openxmlformats.org/drawingml/2006/table">
            <a:tbl>
              <a:tblPr firstRow="1" bandRow="1">
                <a:tableStyleId>{5C22544A-7EE6-4342-B048-85BDC9FD1C3A}</a:tableStyleId>
              </a:tblPr>
              <a:tblGrid>
                <a:gridCol w="2587752"/>
                <a:gridCol w="1371600"/>
                <a:gridCol w="1371600"/>
                <a:gridCol w="1371600"/>
                <a:gridCol w="1371600"/>
                <a:gridCol w="1371600"/>
                <a:gridCol w="1371600"/>
              </a:tblGrid>
              <a:tr h="685800">
                <a:tc>
                  <a:txBody>
                    <a:bodyPr/>
                    <a:lstStyle/>
                    <a:p>
                      <a:pPr algn="l">
                        <a:defRPr sz="1300" b="1">
                          <a:solidFill>
                            <a:srgbClr val="F5F7FA"/>
                          </a:solidFill>
                          <a:latin typeface="Arial"/>
                        </a:defRPr>
                      </a:pPr>
                      <a:r>
                        <a:t>Category</a:t>
                      </a:r>
                    </a:p>
                  </a:txBody>
                  <a:tcPr>
                    <a:solidFill>
                      <a:srgbClr val="2D3748"/>
                    </a:solidFill>
                  </a:tcPr>
                </a:tc>
                <a:tc>
                  <a:txBody>
                    <a:bodyPr/>
                    <a:lstStyle/>
                    <a:p>
                      <a:pPr algn="ctr">
                        <a:defRPr sz="1300" b="1">
                          <a:solidFill>
                            <a:srgbClr val="F5F7FA"/>
                          </a:solidFill>
                          <a:latin typeface="Arial"/>
                        </a:defRPr>
                      </a:pPr>
                      <a:r>
                        <a:t>1st</a:t>
                      </a:r>
                    </a:p>
                  </a:txBody>
                  <a:tcPr>
                    <a:solidFill>
                      <a:srgbClr val="2D3748"/>
                    </a:solidFill>
                  </a:tcPr>
                </a:tc>
                <a:tc>
                  <a:txBody>
                    <a:bodyPr/>
                    <a:lstStyle/>
                    <a:p>
                      <a:pPr algn="ctr">
                        <a:defRPr sz="1300" b="1">
                          <a:solidFill>
                            <a:srgbClr val="F5F7FA"/>
                          </a:solidFill>
                          <a:latin typeface="Arial"/>
                        </a:defRPr>
                      </a:pPr>
                      <a:r>
                        <a:t>2nd</a:t>
                      </a:r>
                    </a:p>
                  </a:txBody>
                  <a:tcPr>
                    <a:solidFill>
                      <a:srgbClr val="2D3748"/>
                    </a:solidFill>
                  </a:tcPr>
                </a:tc>
                <a:tc>
                  <a:txBody>
                    <a:bodyPr/>
                    <a:lstStyle/>
                    <a:p>
                      <a:pPr algn="ctr">
                        <a:defRPr sz="1300" b="1">
                          <a:solidFill>
                            <a:srgbClr val="F5F7FA"/>
                          </a:solidFill>
                          <a:latin typeface="Arial"/>
                        </a:defRPr>
                      </a:pPr>
                      <a:r>
                        <a:t>3rd</a:t>
                      </a:r>
                    </a:p>
                  </a:txBody>
                  <a:tcPr>
                    <a:solidFill>
                      <a:srgbClr val="2D3748"/>
                    </a:solidFill>
                  </a:tcPr>
                </a:tc>
                <a:tc>
                  <a:txBody>
                    <a:bodyPr/>
                    <a:lstStyle/>
                    <a:p>
                      <a:pPr algn="ctr">
                        <a:defRPr sz="1300" b="1">
                          <a:solidFill>
                            <a:srgbClr val="F5F7FA"/>
                          </a:solidFill>
                          <a:latin typeface="Arial"/>
                        </a:defRPr>
                      </a:pPr>
                      <a:r>
                        <a:t>4th</a:t>
                      </a:r>
                    </a:p>
                  </a:txBody>
                  <a:tcPr>
                    <a:solidFill>
                      <a:srgbClr val="2D3748"/>
                    </a:solidFill>
                  </a:tcPr>
                </a:tc>
                <a:tc>
                  <a:txBody>
                    <a:bodyPr/>
                    <a:lstStyle/>
                    <a:p>
                      <a:pPr algn="ctr">
                        <a:defRPr sz="1300" b="1">
                          <a:solidFill>
                            <a:srgbClr val="F5F7FA"/>
                          </a:solidFill>
                          <a:latin typeface="Arial"/>
                        </a:defRPr>
                      </a:pPr>
                      <a:r>
                        <a:t>5th</a:t>
                      </a:r>
                    </a:p>
                  </a:txBody>
                  <a:tcPr>
                    <a:solidFill>
                      <a:srgbClr val="2D3748"/>
                    </a:solidFill>
                  </a:tcPr>
                </a:tc>
                <a:tc>
                  <a:txBody>
                    <a:bodyPr/>
                    <a:lstStyle/>
                    <a:p>
                      <a:pPr algn="ctr">
                        <a:defRPr sz="1300" b="1">
                          <a:solidFill>
                            <a:srgbClr val="F5F7FA"/>
                          </a:solidFill>
                          <a:latin typeface="Arial"/>
                        </a:defRPr>
                      </a:pPr>
                      <a:r>
                        <a:t>6th-10th</a:t>
                      </a:r>
                    </a:p>
                  </a:txBody>
                  <a:tcPr>
                    <a:solidFill>
                      <a:srgbClr val="2D3748"/>
                    </a:solidFill>
                  </a:tcPr>
                </a:tc>
              </a:tr>
              <a:tr h="685800">
                <a:tc>
                  <a:txBody>
                    <a:bodyPr/>
                    <a:lstStyle/>
                    <a:p>
                      <a:pPr algn="l">
                        <a:defRPr sz="1200" b="1">
                          <a:solidFill>
                            <a:srgbClr val="F5F7FA"/>
                          </a:solidFill>
                          <a:latin typeface="Arial"/>
                        </a:defRPr>
                      </a:pPr>
                      <a:r>
                        <a:t>21KM Men/Women Open</a:t>
                      </a:r>
                    </a:p>
                  </a:txBody>
                  <a:tcPr>
                    <a:solidFill>
                      <a:srgbClr val="1E2530"/>
                    </a:solidFill>
                  </a:tcPr>
                </a:tc>
                <a:tc>
                  <a:txBody>
                    <a:bodyPr/>
                    <a:lstStyle/>
                    <a:p>
                      <a:pPr algn="ctr">
                        <a:defRPr sz="1200">
                          <a:solidFill>
                            <a:srgbClr val="34D399"/>
                          </a:solidFill>
                          <a:latin typeface="Arial"/>
                        </a:defRPr>
                      </a:pPr>
                      <a:r>
                        <a:t>RM 2,000</a:t>
                      </a:r>
                    </a:p>
                  </a:txBody>
                  <a:tcPr>
                    <a:solidFill>
                      <a:srgbClr val="1E2530"/>
                    </a:solidFill>
                  </a:tcPr>
                </a:tc>
                <a:tc>
                  <a:txBody>
                    <a:bodyPr/>
                    <a:lstStyle/>
                    <a:p>
                      <a:pPr algn="ctr">
                        <a:defRPr sz="1200">
                          <a:solidFill>
                            <a:srgbClr val="F5F7FA"/>
                          </a:solidFill>
                          <a:latin typeface="Arial"/>
                        </a:defRPr>
                      </a:pPr>
                      <a:r>
                        <a:t>RM 1,200</a:t>
                      </a:r>
                    </a:p>
                  </a:txBody>
                  <a:tcPr>
                    <a:solidFill>
                      <a:srgbClr val="1E2530"/>
                    </a:solidFill>
                  </a:tcPr>
                </a:tc>
                <a:tc>
                  <a:txBody>
                    <a:bodyPr/>
                    <a:lstStyle/>
                    <a:p>
                      <a:pPr algn="ctr">
                        <a:defRPr sz="1200">
                          <a:solidFill>
                            <a:srgbClr val="F5F7FA"/>
                          </a:solidFill>
                          <a:latin typeface="Arial"/>
                        </a:defRPr>
                      </a:pPr>
                      <a:r>
                        <a:t>RM 800</a:t>
                      </a:r>
                    </a:p>
                  </a:txBody>
                  <a:tcPr>
                    <a:solidFill>
                      <a:srgbClr val="1E2530"/>
                    </a:solidFill>
                  </a:tcPr>
                </a:tc>
                <a:tc>
                  <a:txBody>
                    <a:bodyPr/>
                    <a:lstStyle/>
                    <a:p>
                      <a:pPr algn="ctr">
                        <a:defRPr sz="1200">
                          <a:solidFill>
                            <a:srgbClr val="F5F7FA"/>
                          </a:solidFill>
                          <a:latin typeface="Arial"/>
                        </a:defRPr>
                      </a:pPr>
                      <a:r>
                        <a:t>RM 500</a:t>
                      </a:r>
                    </a:p>
                  </a:txBody>
                  <a:tcPr>
                    <a:solidFill>
                      <a:srgbClr val="1E2530"/>
                    </a:solidFill>
                  </a:tcPr>
                </a:tc>
                <a:tc>
                  <a:txBody>
                    <a:bodyPr/>
                    <a:lstStyle/>
                    <a:p>
                      <a:pPr algn="ctr">
                        <a:defRPr sz="1200">
                          <a:solidFill>
                            <a:srgbClr val="F5F7FA"/>
                          </a:solidFill>
                          <a:latin typeface="Arial"/>
                        </a:defRPr>
                      </a:pPr>
                      <a:r>
                        <a:t>RM 300</a:t>
                      </a:r>
                    </a:p>
                  </a:txBody>
                  <a:tcPr>
                    <a:solidFill>
                      <a:srgbClr val="1E2530"/>
                    </a:solidFill>
                  </a:tcPr>
                </a:tc>
                <a:tc>
                  <a:txBody>
                    <a:bodyPr/>
                    <a:lstStyle/>
                    <a:p>
                      <a:pPr algn="ctr">
                        <a:defRPr sz="1200">
                          <a:solidFill>
                            <a:srgbClr val="A0AEC0"/>
                          </a:solidFill>
                          <a:latin typeface="Arial"/>
                        </a:defRPr>
                      </a:pPr>
                      <a:r>
                        <a:t>Trophy Only</a:t>
                      </a:r>
                    </a:p>
                  </a:txBody>
                  <a:tcPr>
                    <a:solidFill>
                      <a:srgbClr val="1E2530"/>
                    </a:solidFill>
                  </a:tcPr>
                </a:tc>
              </a:tr>
              <a:tr h="685800">
                <a:tc>
                  <a:txBody>
                    <a:bodyPr/>
                    <a:lstStyle/>
                    <a:p>
                      <a:pPr algn="l">
                        <a:defRPr sz="1200" b="1">
                          <a:solidFill>
                            <a:srgbClr val="F5F7FA"/>
                          </a:solidFill>
                          <a:latin typeface="Arial"/>
                        </a:defRPr>
                      </a:pPr>
                      <a:r>
                        <a:t>21KM Men/Women Veteran</a:t>
                      </a:r>
                    </a:p>
                  </a:txBody>
                  <a:tcPr>
                    <a:solidFill>
                      <a:srgbClr val="1E2530"/>
                    </a:solidFill>
                  </a:tcPr>
                </a:tc>
                <a:tc>
                  <a:txBody>
                    <a:bodyPr/>
                    <a:lstStyle/>
                    <a:p>
                      <a:pPr algn="ctr">
                        <a:defRPr sz="1200">
                          <a:solidFill>
                            <a:srgbClr val="34D399"/>
                          </a:solidFill>
                          <a:latin typeface="Arial"/>
                        </a:defRPr>
                      </a:pPr>
                      <a:r>
                        <a:t>RM 2,000</a:t>
                      </a:r>
                    </a:p>
                  </a:txBody>
                  <a:tcPr>
                    <a:solidFill>
                      <a:srgbClr val="1E2530"/>
                    </a:solidFill>
                  </a:tcPr>
                </a:tc>
                <a:tc>
                  <a:txBody>
                    <a:bodyPr/>
                    <a:lstStyle/>
                    <a:p>
                      <a:pPr algn="ctr">
                        <a:defRPr sz="1200">
                          <a:solidFill>
                            <a:srgbClr val="F5F7FA"/>
                          </a:solidFill>
                          <a:latin typeface="Arial"/>
                        </a:defRPr>
                      </a:pPr>
                      <a:r>
                        <a:t>RM 1,200</a:t>
                      </a:r>
                    </a:p>
                  </a:txBody>
                  <a:tcPr>
                    <a:solidFill>
                      <a:srgbClr val="1E2530"/>
                    </a:solidFill>
                  </a:tcPr>
                </a:tc>
                <a:tc>
                  <a:txBody>
                    <a:bodyPr/>
                    <a:lstStyle/>
                    <a:p>
                      <a:pPr algn="ctr">
                        <a:defRPr sz="1200">
                          <a:solidFill>
                            <a:srgbClr val="F5F7FA"/>
                          </a:solidFill>
                          <a:latin typeface="Arial"/>
                        </a:defRPr>
                      </a:pPr>
                      <a:r>
                        <a:t>RM 800</a:t>
                      </a:r>
                    </a:p>
                  </a:txBody>
                  <a:tcPr>
                    <a:solidFill>
                      <a:srgbClr val="1E2530"/>
                    </a:solidFill>
                  </a:tcPr>
                </a:tc>
                <a:tc>
                  <a:txBody>
                    <a:bodyPr/>
                    <a:lstStyle/>
                    <a:p>
                      <a:pPr algn="ctr">
                        <a:defRPr sz="1200">
                          <a:solidFill>
                            <a:srgbClr val="F5F7FA"/>
                          </a:solidFill>
                          <a:latin typeface="Arial"/>
                        </a:defRPr>
                      </a:pPr>
                      <a:r>
                        <a:t>RM 500</a:t>
                      </a:r>
                    </a:p>
                  </a:txBody>
                  <a:tcPr>
                    <a:solidFill>
                      <a:srgbClr val="1E2530"/>
                    </a:solidFill>
                  </a:tcPr>
                </a:tc>
                <a:tc>
                  <a:txBody>
                    <a:bodyPr/>
                    <a:lstStyle/>
                    <a:p>
                      <a:pPr algn="ctr">
                        <a:defRPr sz="1200">
                          <a:solidFill>
                            <a:srgbClr val="F5F7FA"/>
                          </a:solidFill>
                          <a:latin typeface="Arial"/>
                        </a:defRPr>
                      </a:pPr>
                      <a:r>
                        <a:t>RM 300</a:t>
                      </a:r>
                    </a:p>
                  </a:txBody>
                  <a:tcPr>
                    <a:solidFill>
                      <a:srgbClr val="1E2530"/>
                    </a:solidFill>
                  </a:tcPr>
                </a:tc>
                <a:tc>
                  <a:txBody>
                    <a:bodyPr/>
                    <a:lstStyle/>
                    <a:p>
                      <a:pPr algn="ctr">
                        <a:defRPr sz="1200">
                          <a:solidFill>
                            <a:srgbClr val="A0AEC0"/>
                          </a:solidFill>
                          <a:latin typeface="Arial"/>
                        </a:defRPr>
                      </a:pPr>
                      <a:r>
                        <a:t>Trophy Only</a:t>
                      </a:r>
                    </a:p>
                  </a:txBody>
                  <a:tcPr>
                    <a:solidFill>
                      <a:srgbClr val="1E2530"/>
                    </a:solidFill>
                  </a:tcPr>
                </a:tc>
              </a:tr>
              <a:tr h="685800">
                <a:tc>
                  <a:txBody>
                    <a:bodyPr/>
                    <a:lstStyle/>
                    <a:p>
                      <a:pPr algn="l">
                        <a:defRPr sz="1200" b="1">
                          <a:solidFill>
                            <a:srgbClr val="F5F7FA"/>
                          </a:solidFill>
                          <a:latin typeface="Arial"/>
                        </a:defRPr>
                      </a:pPr>
                      <a:r>
                        <a:t>21KM Group Relay (Team)</a:t>
                      </a:r>
                    </a:p>
                  </a:txBody>
                  <a:tcPr>
                    <a:solidFill>
                      <a:srgbClr val="1E2530"/>
                    </a:solidFill>
                  </a:tcPr>
                </a:tc>
                <a:tc>
                  <a:txBody>
                    <a:bodyPr/>
                    <a:lstStyle/>
                    <a:p>
                      <a:pPr algn="ctr">
                        <a:defRPr sz="1200">
                          <a:solidFill>
                            <a:srgbClr val="34D399"/>
                          </a:solidFill>
                          <a:latin typeface="Arial"/>
                        </a:defRPr>
                      </a:pPr>
                      <a:r>
                        <a:t>RM 1,000</a:t>
                      </a:r>
                    </a:p>
                  </a:txBody>
                  <a:tcPr>
                    <a:solidFill>
                      <a:srgbClr val="1E2530"/>
                    </a:solidFill>
                  </a:tcPr>
                </a:tc>
                <a:tc>
                  <a:txBody>
                    <a:bodyPr/>
                    <a:lstStyle/>
                    <a:p>
                      <a:pPr algn="ctr">
                        <a:defRPr sz="1200">
                          <a:solidFill>
                            <a:srgbClr val="F5F7FA"/>
                          </a:solidFill>
                          <a:latin typeface="Arial"/>
                        </a:defRPr>
                      </a:pPr>
                      <a:r>
                        <a:t>RM 600</a:t>
                      </a:r>
                    </a:p>
                  </a:txBody>
                  <a:tcPr>
                    <a:solidFill>
                      <a:srgbClr val="1E2530"/>
                    </a:solidFill>
                  </a:tcPr>
                </a:tc>
                <a:tc>
                  <a:txBody>
                    <a:bodyPr/>
                    <a:lstStyle/>
                    <a:p>
                      <a:pPr algn="ctr">
                        <a:defRPr sz="1200">
                          <a:solidFill>
                            <a:srgbClr val="F5F7FA"/>
                          </a:solidFill>
                          <a:latin typeface="Arial"/>
                        </a:defRPr>
                      </a:pPr>
                      <a:r>
                        <a:t>RM 400</a:t>
                      </a:r>
                    </a:p>
                  </a:txBody>
                  <a:tcPr>
                    <a:solidFill>
                      <a:srgbClr val="1E2530"/>
                    </a:solidFill>
                  </a:tcPr>
                </a:tc>
                <a:tc>
                  <a:txBody>
                    <a:bodyPr/>
                    <a:lstStyle/>
                    <a:p>
                      <a:pPr algn="ctr">
                        <a:defRPr sz="1200">
                          <a:solidFill>
                            <a:srgbClr val="F5F7FA"/>
                          </a:solidFill>
                          <a:latin typeface="Arial"/>
                        </a:defRPr>
                      </a:pPr>
                      <a:r>
                        <a:t>—</a:t>
                      </a:r>
                    </a:p>
                  </a:txBody>
                  <a:tcPr>
                    <a:solidFill>
                      <a:srgbClr val="1E2530"/>
                    </a:solidFill>
                  </a:tcPr>
                </a:tc>
                <a:tc>
                  <a:txBody>
                    <a:bodyPr/>
                    <a:lstStyle/>
                    <a:p>
                      <a:pPr algn="ctr">
                        <a:defRPr sz="1200">
                          <a:solidFill>
                            <a:srgbClr val="F5F7FA"/>
                          </a:solidFill>
                          <a:latin typeface="Arial"/>
                        </a:defRPr>
                      </a:pPr>
                      <a:r>
                        <a:t>—</a:t>
                      </a:r>
                    </a:p>
                  </a:txBody>
                  <a:tcPr>
                    <a:solidFill>
                      <a:srgbClr val="1E2530"/>
                    </a:solidFill>
                  </a:tcPr>
                </a:tc>
                <a:tc>
                  <a:txBody>
                    <a:bodyPr/>
                    <a:lstStyle/>
                    <a:p>
                      <a:pPr algn="ctr">
                        <a:defRPr sz="1200">
                          <a:solidFill>
                            <a:srgbClr val="F5F7FA"/>
                          </a:solidFill>
                          <a:latin typeface="Arial"/>
                        </a:defRPr>
                      </a:pPr>
                      <a:r>
                        <a:t>—</a:t>
                      </a:r>
                    </a:p>
                  </a:txBody>
                  <a:tcPr>
                    <a:solidFill>
                      <a:srgbClr val="1E2530"/>
                    </a:solidFill>
                  </a:tcPr>
                </a:tc>
              </a:tr>
              <a:tr h="685800">
                <a:tc>
                  <a:txBody>
                    <a:bodyPr/>
                    <a:lstStyle/>
                    <a:p>
                      <a:pPr algn="l">
                        <a:defRPr sz="1200" b="1">
                          <a:solidFill>
                            <a:srgbClr val="F5F7FA"/>
                          </a:solidFill>
                          <a:latin typeface="Arial"/>
                        </a:defRPr>
                      </a:pPr>
                      <a:r>
                        <a:t>10KM Men/Women Open</a:t>
                      </a:r>
                    </a:p>
                  </a:txBody>
                  <a:tcPr>
                    <a:solidFill>
                      <a:srgbClr val="1E2530"/>
                    </a:solidFill>
                  </a:tcPr>
                </a:tc>
                <a:tc>
                  <a:txBody>
                    <a:bodyPr/>
                    <a:lstStyle/>
                    <a:p>
                      <a:pPr algn="ctr">
                        <a:defRPr sz="1200">
                          <a:solidFill>
                            <a:srgbClr val="34D399"/>
                          </a:solidFill>
                          <a:latin typeface="Arial"/>
                        </a:defRPr>
                      </a:pPr>
                      <a:r>
                        <a:t>RM 1,000</a:t>
                      </a:r>
                    </a:p>
                  </a:txBody>
                  <a:tcPr>
                    <a:solidFill>
                      <a:srgbClr val="1E2530"/>
                    </a:solidFill>
                  </a:tcPr>
                </a:tc>
                <a:tc>
                  <a:txBody>
                    <a:bodyPr/>
                    <a:lstStyle/>
                    <a:p>
                      <a:pPr algn="ctr">
                        <a:defRPr sz="1200">
                          <a:solidFill>
                            <a:srgbClr val="F5F7FA"/>
                          </a:solidFill>
                          <a:latin typeface="Arial"/>
                        </a:defRPr>
                      </a:pPr>
                      <a:r>
                        <a:t>RM 600</a:t>
                      </a:r>
                    </a:p>
                  </a:txBody>
                  <a:tcPr>
                    <a:solidFill>
                      <a:srgbClr val="1E2530"/>
                    </a:solidFill>
                  </a:tcPr>
                </a:tc>
                <a:tc>
                  <a:txBody>
                    <a:bodyPr/>
                    <a:lstStyle/>
                    <a:p>
                      <a:pPr algn="ctr">
                        <a:defRPr sz="1200">
                          <a:solidFill>
                            <a:srgbClr val="F5F7FA"/>
                          </a:solidFill>
                          <a:latin typeface="Arial"/>
                        </a:defRPr>
                      </a:pPr>
                      <a:r>
                        <a:t>RM 400</a:t>
                      </a:r>
                    </a:p>
                  </a:txBody>
                  <a:tcPr>
                    <a:solidFill>
                      <a:srgbClr val="1E2530"/>
                    </a:solidFill>
                  </a:tcPr>
                </a:tc>
                <a:tc>
                  <a:txBody>
                    <a:bodyPr/>
                    <a:lstStyle/>
                    <a:p>
                      <a:pPr algn="ctr">
                        <a:defRPr sz="1200">
                          <a:solidFill>
                            <a:srgbClr val="F5F7FA"/>
                          </a:solidFill>
                          <a:latin typeface="Arial"/>
                        </a:defRPr>
                      </a:pPr>
                      <a:r>
                        <a:t>RM 250</a:t>
                      </a:r>
                    </a:p>
                  </a:txBody>
                  <a:tcPr>
                    <a:solidFill>
                      <a:srgbClr val="1E2530"/>
                    </a:solidFill>
                  </a:tcPr>
                </a:tc>
                <a:tc>
                  <a:txBody>
                    <a:bodyPr/>
                    <a:lstStyle/>
                    <a:p>
                      <a:pPr algn="ctr">
                        <a:defRPr sz="1200">
                          <a:solidFill>
                            <a:srgbClr val="F5F7FA"/>
                          </a:solidFill>
                          <a:latin typeface="Arial"/>
                        </a:defRPr>
                      </a:pPr>
                      <a:r>
                        <a:t>RM 150</a:t>
                      </a:r>
                    </a:p>
                  </a:txBody>
                  <a:tcPr>
                    <a:solidFill>
                      <a:srgbClr val="1E2530"/>
                    </a:solidFill>
                  </a:tcPr>
                </a:tc>
                <a:tc>
                  <a:txBody>
                    <a:bodyPr/>
                    <a:lstStyle/>
                    <a:p>
                      <a:pPr algn="ctr">
                        <a:defRPr sz="1200">
                          <a:solidFill>
                            <a:srgbClr val="A0AEC0"/>
                          </a:solidFill>
                          <a:latin typeface="Arial"/>
                        </a:defRPr>
                      </a:pPr>
                      <a:r>
                        <a:t>Trophy Only</a:t>
                      </a:r>
                    </a:p>
                  </a:txBody>
                  <a:tcPr>
                    <a:solidFill>
                      <a:srgbClr val="1E2530"/>
                    </a:solidFill>
                  </a:tcPr>
                </a:tc>
              </a:tr>
              <a:tr h="685800">
                <a:tc>
                  <a:txBody>
                    <a:bodyPr/>
                    <a:lstStyle/>
                    <a:p>
                      <a:pPr algn="l">
                        <a:defRPr sz="1200" b="1">
                          <a:solidFill>
                            <a:srgbClr val="F5F7FA"/>
                          </a:solidFill>
                          <a:latin typeface="Arial"/>
                        </a:defRPr>
                      </a:pPr>
                      <a:r>
                        <a:t>10KM Men/Women Veteran</a:t>
                      </a:r>
                    </a:p>
                  </a:txBody>
                  <a:tcPr>
                    <a:solidFill>
                      <a:srgbClr val="1E2530"/>
                    </a:solidFill>
                  </a:tcPr>
                </a:tc>
                <a:tc>
                  <a:txBody>
                    <a:bodyPr/>
                    <a:lstStyle/>
                    <a:p>
                      <a:pPr algn="ctr">
                        <a:defRPr sz="1200">
                          <a:solidFill>
                            <a:srgbClr val="34D399"/>
                          </a:solidFill>
                          <a:latin typeface="Arial"/>
                        </a:defRPr>
                      </a:pPr>
                      <a:r>
                        <a:t>RM 1,000</a:t>
                      </a:r>
                    </a:p>
                  </a:txBody>
                  <a:tcPr>
                    <a:solidFill>
                      <a:srgbClr val="1E2530"/>
                    </a:solidFill>
                  </a:tcPr>
                </a:tc>
                <a:tc>
                  <a:txBody>
                    <a:bodyPr/>
                    <a:lstStyle/>
                    <a:p>
                      <a:pPr algn="ctr">
                        <a:defRPr sz="1200">
                          <a:solidFill>
                            <a:srgbClr val="F5F7FA"/>
                          </a:solidFill>
                          <a:latin typeface="Arial"/>
                        </a:defRPr>
                      </a:pPr>
                      <a:r>
                        <a:t>RM 600</a:t>
                      </a:r>
                    </a:p>
                  </a:txBody>
                  <a:tcPr>
                    <a:solidFill>
                      <a:srgbClr val="1E2530"/>
                    </a:solidFill>
                  </a:tcPr>
                </a:tc>
                <a:tc>
                  <a:txBody>
                    <a:bodyPr/>
                    <a:lstStyle/>
                    <a:p>
                      <a:pPr algn="ctr">
                        <a:defRPr sz="1200">
                          <a:solidFill>
                            <a:srgbClr val="F5F7FA"/>
                          </a:solidFill>
                          <a:latin typeface="Arial"/>
                        </a:defRPr>
                      </a:pPr>
                      <a:r>
                        <a:t>RM 400</a:t>
                      </a:r>
                    </a:p>
                  </a:txBody>
                  <a:tcPr>
                    <a:solidFill>
                      <a:srgbClr val="1E2530"/>
                    </a:solidFill>
                  </a:tcPr>
                </a:tc>
                <a:tc>
                  <a:txBody>
                    <a:bodyPr/>
                    <a:lstStyle/>
                    <a:p>
                      <a:pPr algn="ctr">
                        <a:defRPr sz="1200">
                          <a:solidFill>
                            <a:srgbClr val="F5F7FA"/>
                          </a:solidFill>
                          <a:latin typeface="Arial"/>
                        </a:defRPr>
                      </a:pPr>
                      <a:r>
                        <a:t>RM 250</a:t>
                      </a:r>
                    </a:p>
                  </a:txBody>
                  <a:tcPr>
                    <a:solidFill>
                      <a:srgbClr val="1E2530"/>
                    </a:solidFill>
                  </a:tcPr>
                </a:tc>
                <a:tc>
                  <a:txBody>
                    <a:bodyPr/>
                    <a:lstStyle/>
                    <a:p>
                      <a:pPr algn="ctr">
                        <a:defRPr sz="1200">
                          <a:solidFill>
                            <a:srgbClr val="F5F7FA"/>
                          </a:solidFill>
                          <a:latin typeface="Arial"/>
                        </a:defRPr>
                      </a:pPr>
                      <a:r>
                        <a:t>RM 150</a:t>
                      </a:r>
                    </a:p>
                  </a:txBody>
                  <a:tcPr>
                    <a:solidFill>
                      <a:srgbClr val="1E2530"/>
                    </a:solidFill>
                  </a:tcPr>
                </a:tc>
                <a:tc>
                  <a:txBody>
                    <a:bodyPr/>
                    <a:lstStyle/>
                    <a:p>
                      <a:pPr algn="ctr">
                        <a:defRPr sz="1200">
                          <a:solidFill>
                            <a:srgbClr val="A0AEC0"/>
                          </a:solidFill>
                          <a:latin typeface="Arial"/>
                        </a:defRPr>
                      </a:pPr>
                      <a:r>
                        <a:t>Trophy Only</a:t>
                      </a:r>
                    </a:p>
                  </a:txBody>
                  <a:tcPr>
                    <a:solidFill>
                      <a:srgbClr val="1E2530"/>
                    </a:solidFill>
                  </a:tcPr>
                </a:tc>
              </a:tr>
            </a:tbl>
          </a:graphicData>
        </a:graphic>
      </p:graphicFrame>
      <p:sp>
        <p:nvSpPr>
          <p:cNvPr id="4" name="TextBox 3"/>
          <p:cNvSpPr txBox="1"/>
          <p:nvPr/>
        </p:nvSpPr>
        <p:spPr>
          <a:xfrm>
            <a:off x="685800" y="6035040"/>
            <a:ext cx="10817352" cy="457200"/>
          </a:xfrm>
          <a:prstGeom prst="rect">
            <a:avLst/>
          </a:prstGeom>
          <a:noFill/>
        </p:spPr>
        <p:txBody>
          <a:bodyPr wrap="none">
            <a:spAutoFit/>
          </a:bodyPr>
          <a:lstStyle/>
          <a:p>
            <a:pPr>
              <a:defRPr sz="1400" b="1">
                <a:solidFill>
                  <a:srgbClr val="60A5FA"/>
                </a:solidFill>
                <a:latin typeface="Arial"/>
              </a:defRPr>
            </a:pPr>
            <a:r>
              <a:t>Total Cash Prize Budget Required (Option B): RM 30,800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TextBox 1"/>
          <p:cNvSpPr txBox="1"/>
          <p:nvPr/>
        </p:nvSpPr>
        <p:spPr>
          <a:xfrm>
            <a:off x="685800" y="457200"/>
            <a:ext cx="10817352" cy="1097280"/>
          </a:xfrm>
          <a:prstGeom prst="rect">
            <a:avLst/>
          </a:prstGeom>
          <a:noFill/>
        </p:spPr>
        <p:txBody>
          <a:bodyPr wrap="square" lIns="0" tIns="0" bIns="0" rIns="0">
            <a:spAutoFit/>
          </a:bodyPr>
          <a:lstStyle/>
          <a:p>
            <a:pPr>
              <a:defRPr sz="2800" b="1">
                <a:solidFill>
                  <a:srgbClr val="F5F7FA"/>
                </a:solidFill>
                <a:latin typeface="Georgia"/>
              </a:defRPr>
            </a:pPr>
            <a:r>
              <a:t>Comparison &amp; Recommendation</a:t>
            </a:r>
          </a:p>
          <a:p>
            <a:pPr>
              <a:spcBef>
                <a:spcPts val="600"/>
              </a:spcBef>
              <a:defRPr sz="1400">
                <a:solidFill>
                  <a:srgbClr val="A0AEC0"/>
                </a:solidFill>
                <a:latin typeface="Arial"/>
              </a:defRPr>
            </a:pPr>
            <a:r>
              <a:t>Which structure matches your organizational strategy?</a:t>
            </a:r>
          </a:p>
        </p:txBody>
      </p:sp>
      <p:sp>
        <p:nvSpPr>
          <p:cNvPr id="3" name="Rounded Rectangle 2"/>
          <p:cNvSpPr/>
          <p:nvPr/>
        </p:nvSpPr>
        <p:spPr>
          <a:xfrm>
            <a:off x="685800" y="1828800"/>
            <a:ext cx="5120640" cy="2011680"/>
          </a:xfrm>
          <a:prstGeom prst="roundRect">
            <a:avLst/>
          </a:prstGeom>
          <a:solidFill>
            <a:srgbClr val="1E2530"/>
          </a:solidFill>
          <a:ln>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920240"/>
            <a:ext cx="4754880" cy="1828800"/>
          </a:xfrm>
          <a:prstGeom prst="rect">
            <a:avLst/>
          </a:prstGeom>
          <a:noFill/>
        </p:spPr>
        <p:txBody>
          <a:bodyPr wrap="square">
            <a:spAutoFit/>
          </a:bodyPr>
          <a:lstStyle/>
          <a:p>
            <a:pPr>
              <a:defRPr sz="1400" b="1">
                <a:solidFill>
                  <a:srgbClr val="34D399"/>
                </a:solidFill>
                <a:latin typeface="Arial"/>
              </a:defRPr>
            </a:pPr>
            <a:r>
              <a:t>OPTION A — PREMIUM STRUCTURE</a:t>
            </a:r>
          </a:p>
          <a:p>
            <a:pPr>
              <a:spcBef>
                <a:spcPts val="800"/>
              </a:spcBef>
              <a:defRPr sz="2200" b="1">
                <a:solidFill>
                  <a:srgbClr val="F5F7FA"/>
                </a:solidFill>
                <a:latin typeface="Arial"/>
              </a:defRPr>
            </a:pPr>
            <a:r>
              <a:t>Total Budget: RM 35,400</a:t>
            </a:r>
          </a:p>
          <a:p>
            <a:pPr>
              <a:spcBef>
                <a:spcPts val="800"/>
              </a:spcBef>
              <a:defRPr sz="1100">
                <a:solidFill>
                  <a:srgbClr val="A0AEC0"/>
                </a:solidFill>
                <a:latin typeface="Arial"/>
              </a:defRPr>
            </a:pPr>
            <a:r>
              <a:t>• Maximizes elite &amp; running club registrations by rewarding more depth.</a:t>
            </a:r>
            <a:br/>
            <a:r>
              <a:t>• Standard format for tier-1 national events (e.g. PBIM, Langkawi).</a:t>
            </a:r>
          </a:p>
        </p:txBody>
      </p:sp>
      <p:sp>
        <p:nvSpPr>
          <p:cNvPr id="5" name="Rounded Rectangle 4"/>
          <p:cNvSpPr/>
          <p:nvPr/>
        </p:nvSpPr>
        <p:spPr>
          <a:xfrm>
            <a:off x="6382512" y="1828800"/>
            <a:ext cx="5120640" cy="2011680"/>
          </a:xfrm>
          <a:prstGeom prst="roundRect">
            <a:avLst/>
          </a:prstGeom>
          <a:solidFill>
            <a:srgbClr val="1E2530"/>
          </a:solidFill>
          <a:ln>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65392" y="1920240"/>
            <a:ext cx="4754880" cy="1828800"/>
          </a:xfrm>
          <a:prstGeom prst="rect">
            <a:avLst/>
          </a:prstGeom>
          <a:noFill/>
        </p:spPr>
        <p:txBody>
          <a:bodyPr wrap="square">
            <a:spAutoFit/>
          </a:bodyPr>
          <a:lstStyle/>
          <a:p>
            <a:pPr>
              <a:defRPr sz="1400" b="1">
                <a:solidFill>
                  <a:srgbClr val="60A5FA"/>
                </a:solidFill>
                <a:latin typeface="Arial"/>
              </a:defRPr>
            </a:pPr>
            <a:r>
              <a:t>OPTION B — BUDGET-SAVER</a:t>
            </a:r>
          </a:p>
          <a:p>
            <a:pPr>
              <a:spcBef>
                <a:spcPts val="800"/>
              </a:spcBef>
              <a:defRPr sz="2200" b="1">
                <a:solidFill>
                  <a:srgbClr val="F5F7FA"/>
                </a:solidFill>
                <a:latin typeface="Arial"/>
              </a:defRPr>
            </a:pPr>
            <a:r>
              <a:t>Total Budget: RM 30,800</a:t>
            </a:r>
          </a:p>
          <a:p>
            <a:pPr>
              <a:spcBef>
                <a:spcPts val="800"/>
              </a:spcBef>
              <a:defRPr sz="1100">
                <a:solidFill>
                  <a:srgbClr val="A0AEC0"/>
                </a:solidFill>
                <a:latin typeface="Arial"/>
              </a:defRPr>
            </a:pPr>
            <a:r>
              <a:t>• Saves RM 4,600 (13.0% reduction in total prize pool).</a:t>
            </a:r>
            <a:br/>
            <a:r>
              <a:t>• Maintains top-tier status while rewarding 6th-10th with high-quality trophies.</a:t>
            </a:r>
          </a:p>
        </p:txBody>
      </p:sp>
      <p:sp>
        <p:nvSpPr>
          <p:cNvPr id="7" name="Rectangle 6"/>
          <p:cNvSpPr/>
          <p:nvPr/>
        </p:nvSpPr>
        <p:spPr>
          <a:xfrm>
            <a:off x="685800" y="4206240"/>
            <a:ext cx="10817352" cy="1828800"/>
          </a:xfrm>
          <a:prstGeom prst="rect">
            <a:avLst/>
          </a:prstGeom>
          <a:solidFill>
            <a:srgbClr val="1E2530"/>
          </a:solidFill>
          <a:ln>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297680"/>
            <a:ext cx="10451592" cy="1645920"/>
          </a:xfrm>
          <a:prstGeom prst="rect">
            <a:avLst/>
          </a:prstGeom>
          <a:noFill/>
        </p:spPr>
        <p:txBody>
          <a:bodyPr wrap="square">
            <a:spAutoFit/>
          </a:bodyPr>
          <a:lstStyle/>
          <a:p>
            <a:pPr>
              <a:spcAft>
                <a:spcPts val="800"/>
              </a:spcAft>
              <a:defRPr sz="1600" b="1">
                <a:solidFill>
                  <a:srgbClr val="34D399"/>
                </a:solidFill>
                <a:latin typeface="Arial"/>
              </a:defRPr>
            </a:pPr>
            <a:r>
              <a:t>Our Recommendation:</a:t>
            </a:r>
          </a:p>
          <a:p>
            <a:pPr>
              <a:lnSpc>
                <a:spcPct val="130000"/>
              </a:lnSpc>
              <a:defRPr sz="1300">
                <a:solidFill>
                  <a:srgbClr val="F5F7FA"/>
                </a:solidFill>
                <a:latin typeface="Arial"/>
              </a:defRPr>
            </a:pPr>
            <a:r>
              <a:t>For an event targeting 8,000 participants, Option A is highly recommended. The additional RM 4,600 required to pay cash down to 10th place is easily offset by the incremental ticket revenue from competitive running clubs. By advertising cash prizes up to 10th place, you establish the event as a premier competitive milestone on the national calendar.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